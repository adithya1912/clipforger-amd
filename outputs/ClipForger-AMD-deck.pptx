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d1991c5ba2453d" /><Relationship Type="http://schemas.openxmlformats.org/officeDocument/2006/relationships/extended-properties" Target="/docProps/app.xml" Id="R1ef6281bca1d42e8" /><Relationship Type="http://schemas.openxmlformats.org/officeDocument/2006/relationships/officeDocument" Target="/ppt/presentation.xml" Id="R6d36c844ffe043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b62d5849fe44b0"/>
  </p:sldMasterIdLst>
  <p:notesMasterIdLst>
    <p:notesMasterId xmlns:r="http://schemas.openxmlformats.org/officeDocument/2006/relationships" r:id="Raf40a79480314031"/>
  </p:notesMasterIdLst>
  <p:sldIdLst>
    <p:sldId xmlns:r="http://schemas.openxmlformats.org/officeDocument/2006/relationships" id="256" r:id="R5d1ef51f79ef4a10"/>
    <p:sldId xmlns:r="http://schemas.openxmlformats.org/officeDocument/2006/relationships" id="257" r:id="R2eae865ff1024fc7"/>
    <p:sldId xmlns:r="http://schemas.openxmlformats.org/officeDocument/2006/relationships" id="258" r:id="Rc7e86af9f6c04f21"/>
    <p:sldId xmlns:r="http://schemas.openxmlformats.org/officeDocument/2006/relationships" id="259" r:id="Ra3441e120a34416f"/>
    <p:sldId xmlns:r="http://schemas.openxmlformats.org/officeDocument/2006/relationships" id="260" r:id="R831eefa9040c4585"/>
    <p:sldId xmlns:r="http://schemas.openxmlformats.org/officeDocument/2006/relationships" id="261" r:id="Reb398cf4191b4a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87825e9e54855" /><Relationship Type="http://schemas.openxmlformats.org/officeDocument/2006/relationships/slideMaster" Target="/ppt/slideMasters/slideMaster1.xml" Id="Rcfb62d5849fe44b0" /><Relationship Type="http://schemas.openxmlformats.org/officeDocument/2006/relationships/notesMaster" Target="/ppt/notesMasters/notesMaster1.xml" Id="Raf40a79480314031" /><Relationship Type="http://schemas.openxmlformats.org/officeDocument/2006/relationships/presProps" Target="/ppt/presProps.xml" Id="R314df295d9154975" /><Relationship Type="http://schemas.openxmlformats.org/officeDocument/2006/relationships/tableStyles" Target="/ppt/tableStyles.xml" Id="R8ceb6ec0bec94630" /><Relationship Type="http://schemas.openxmlformats.org/officeDocument/2006/relationships/slide" Target="/ppt/slides/slide1.xml" Id="R5d1ef51f79ef4a10" /><Relationship Type="http://schemas.openxmlformats.org/officeDocument/2006/relationships/slide" Target="/ppt/slides/slide2.xml" Id="R2eae865ff1024fc7" /><Relationship Type="http://schemas.openxmlformats.org/officeDocument/2006/relationships/slide" Target="/ppt/slides/slide3.xml" Id="Rc7e86af9f6c04f21" /><Relationship Type="http://schemas.openxmlformats.org/officeDocument/2006/relationships/slide" Target="/ppt/slides/slide4.xml" Id="Ra3441e120a34416f" /><Relationship Type="http://schemas.openxmlformats.org/officeDocument/2006/relationships/slide" Target="/ppt/slides/slide5.xml" Id="R831eefa9040c4585" /><Relationship Type="http://schemas.openxmlformats.org/officeDocument/2006/relationships/slide" Target="/ppt/slides/slide6.xml" Id="Reb398cf4191b4a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f24dc2708d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b9742d30c45c4" /><Relationship Type="http://schemas.openxmlformats.org/officeDocument/2006/relationships/notesMaster" Target="/ppt/notesMasters/notesMaster1.xml" Id="R15c8495e3994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1c2cd70ce4450e" /><Relationship Type="http://schemas.openxmlformats.org/officeDocument/2006/relationships/notesMaster" Target="/ppt/notesMasters/notesMaster1.xml" Id="R31b046585be3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8044c7ee154dcd" /><Relationship Type="http://schemas.openxmlformats.org/officeDocument/2006/relationships/notesMaster" Target="/ppt/notesMasters/notesMaster1.xml" Id="R4472ec47af2945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88279760341a5" /><Relationship Type="http://schemas.openxmlformats.org/officeDocument/2006/relationships/notesMaster" Target="/ppt/notesMasters/notesMaster1.xml" Id="Re29831f7542245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f3f39747d74343" /><Relationship Type="http://schemas.openxmlformats.org/officeDocument/2006/relationships/notesMaster" Target="/ppt/notesMasters/notesMaster1.xml" Id="R53dcb1d84f2c4b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948df84e84c1b" /><Relationship Type="http://schemas.openxmlformats.org/officeDocument/2006/relationships/notesMaster" Target="/ppt/notesMasters/notesMaster1.xml" Id="Rcabc98fa924d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597eb5a544d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d647179f848c1" /><Relationship Type="http://schemas.openxmlformats.org/officeDocument/2006/relationships/slideLayout" Target="/ppt/slideLayouts/slideLayout1.xml" Id="R37b002c3364943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b002c3364943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6d6377f0c4b03" /><Relationship Type="http://schemas.openxmlformats.org/officeDocument/2006/relationships/image" Target="/ppt/media/image.jpeg" Id="Re3ba5379a75f403c" /><Relationship Type="http://schemas.openxmlformats.org/officeDocument/2006/relationships/notesSlide" Target="/ppt/notesSlides/notesSlide1.xml" Id="R92220a3daa274b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dd3ee85e743e6" /><Relationship Type="http://schemas.openxmlformats.org/officeDocument/2006/relationships/notesSlide" Target="/ppt/notesSlides/notesSlide2.xml" Id="R72640f7c418043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212ad3d6c43f1" /><Relationship Type="http://schemas.openxmlformats.org/officeDocument/2006/relationships/image" Target="/ppt/media/image2.jpeg" Id="Rcd00a5d2e0e14697" /><Relationship Type="http://schemas.openxmlformats.org/officeDocument/2006/relationships/image" Target="/ppt/media/image3.jpeg" Id="R93749bf524f940b6" /><Relationship Type="http://schemas.openxmlformats.org/officeDocument/2006/relationships/notesSlide" Target="/ppt/notesSlides/notesSlide3.xml" Id="R03a504e7e4dc49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6274aa5ce4ebc" /><Relationship Type="http://schemas.openxmlformats.org/officeDocument/2006/relationships/notesSlide" Target="/ppt/notesSlides/notesSlide4.xml" Id="R2a6494311a47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b2d568524b1d" /><Relationship Type="http://schemas.openxmlformats.org/officeDocument/2006/relationships/image" Target="/ppt/media/image4.jpeg" Id="R5a7da7165cc547ad" /><Relationship Type="http://schemas.openxmlformats.org/officeDocument/2006/relationships/notesSlide" Target="/ppt/notesSlides/notesSlide5.xml" Id="Rf1fff3f5513e48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528bc026433d" /><Relationship Type="http://schemas.openxmlformats.org/officeDocument/2006/relationships/notesSlide" Target="/ppt/notesSlides/notesSlide6.xml" Id="Raede1c9c1c5247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9206EF-AB8E-4729-852D-073EDD5B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201400" cy="60198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31783B1-A9D2-493E-B6AE-7EEFCB8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CA3AF"/>
                </a:solidFill>
              </a:defRPr>
            </a:pPr>
            <a:r>
              <a:rPr sz="1200" b="1">
                <a:solidFill>
                  <a:srgbClr val="9CA3AF"/>
                </a:solidFill>
              </a:rPr>
              <a:t>AMD Developer Hackathon Track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4FC263-BE13-4340-85AD-15DCB442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ClipForger-AMD turns one clip into accurate captions and four styles.</a:t>
            </a:r>
          </a:p>
        </p:txBody>
      </p:sp>
      <p:sp>
        <p:nvSpPr>
          <p:cNvPr id="4" name="deck-sub">
            <a:extLst xmlns:a="http://schemas.openxmlformats.org/drawingml/2006/main">
              <a:ext uri="{FF2B5EF4-FFF2-40B4-BE49-F238E27FC236}">
                <a16:creationId xmlns:a16="http://schemas.microsoft.com/office/drawing/2014/main" id="{E7D63983-20B2-4322-B244-F2C691C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A Fireworks-first, Gemma-ready video captioning pipeline with Groq fallback for reliability, designed for the Track 2 evaluator and packaged as a public linux/amd64 Docker image.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63241-CFC3-42F1-8B5E-ADEAF26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4629150" cy="495300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5379a75f403c"/>
          <a:srcRect xmlns:a="http://schemas.openxmlformats.org/drawingml/2006/main" l="7054" t="0" r="7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085850"/>
            <a:ext cx="4210050" cy="2762250"/>
          </a:xfrm>
          <a:prstGeom xmlns:a="http://schemas.openxmlformats.org/drawingml/2006/main" prst="roundRect">
            <a:avLst>
              <a:gd name="adj" fmla="val 4138"/>
            </a:avLst>
          </a:prstGeom>
        </p:spPr>
      </p:pic>
      <p:sp>
        <p:nvSpPr>
          <p:cNvPr id="7" name="callout">
            <a:extLst xmlns:a="http://schemas.openxmlformats.org/drawingml/2006/main">
              <a:ext uri="{FF2B5EF4-FFF2-40B4-BE49-F238E27FC236}">
                <a16:creationId xmlns:a16="http://schemas.microsoft.com/office/drawing/2014/main" id="{135DC080-0B52-49FA-8AB0-8D8F926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210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Submission-ready in one sentence: upload, caption, judge, export.</a:t>
            </a:r>
          </a:p>
        </p:txBody>
      </p:sp>
      <p:sp>
        <p:nvSpPr>
          <p:cNvPr id="8" name="callout2">
            <a:extLst xmlns:a="http://schemas.openxmlformats.org/drawingml/2006/main">
              <a:ext uri="{FF2B5EF4-FFF2-40B4-BE49-F238E27FC236}">
                <a16:creationId xmlns:a16="http://schemas.microsoft.com/office/drawing/2014/main" id="{D29B24D9-E54C-4A9F-86A6-CABC7DFC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21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The front end is for the demo. The Docker container is what the judges run.</a:t>
            </a:r>
          </a:p>
        </p:txBody>
      </p:sp>
    </p:spTree>
    <p:extLst>
      <p:ext uri="{BB962C8B-B14F-4D97-AF65-F5344CB8AC3E}">
        <p14:creationId xmlns:p14="http://schemas.microsoft.com/office/powerpoint/2010/main" val="1966690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8BED16D-F5AF-4E9D-9863-14477D54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Why the split matters</a:t>
            </a:r>
          </a:p>
        </p:txBody>
      </p:sp>
      <p:sp>
        <p:nvSpPr>
          <p:cNvPr id="2" name="lede">
            <a:extLst xmlns:a="http://schemas.openxmlformats.org/drawingml/2006/main">
              <a:ext uri="{FF2B5EF4-FFF2-40B4-BE49-F238E27FC236}">
                <a16:creationId xmlns:a16="http://schemas.microsoft.com/office/drawing/2014/main" id="{5B33030F-820D-4601-89FE-EDD33E20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Captions stay literal and readable. Summaries carry the humor, but only after the evidence is grounded.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02728-7F63-4529-B00B-F43ED896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1244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E865C-8B05-4C21-8284-A2BC78A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54864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C1957353-798F-40E6-9406-BA7F7159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F4444"/>
                </a:solidFill>
              </a:defRPr>
            </a:pPr>
            <a:r>
              <a:rPr sz="1800" b="1">
                <a:solidFill>
                  <a:srgbClr val="EF4444"/>
                </a:solidFill>
              </a:rPr>
              <a:t>What users get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F08186ED-9E25-4ACF-9238-623377A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Burned-in captioned MP4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SRT, VTT, TXT export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Editable factual base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Four distinct summary styles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Submission JSON for the judge</a:t>
            </a:r>
          </a:p>
        </p:txBody>
      </p:sp>
      <p:sp>
        <p:nvSpPr>
          <p:cNvPr id="7" name="right-head">
            <a:extLst xmlns:a="http://schemas.openxmlformats.org/drawingml/2006/main">
              <a:ext uri="{FF2B5EF4-FFF2-40B4-BE49-F238E27FC236}">
                <a16:creationId xmlns:a16="http://schemas.microsoft.com/office/drawing/2014/main" id="{CDDEBEB5-EDD7-4BDC-BB51-843BE60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F4444"/>
                </a:solidFill>
              </a:defRPr>
            </a:pPr>
            <a:r>
              <a:rPr sz="1800" b="1">
                <a:solidFill>
                  <a:srgbClr val="EF4444"/>
                </a:solidFill>
              </a:rPr>
              <a:t>What the judge sees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0C276EC0-4E98-4F7B-BF7F-B96842C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The evaluator gets unseen video clips, not cached answers. Every output has to work on fresh content, so the pipeline must actually understand the clip and the requested style.</a:t>
            </a:r>
          </a:p>
        </p:txBody>
      </p:sp>
      <p:sp>
        <p:nvSpPr>
          <p:cNvPr id="9" name="note">
            <a:extLst xmlns:a="http://schemas.openxmlformats.org/drawingml/2006/main">
              <a:ext uri="{FF2B5EF4-FFF2-40B4-BE49-F238E27FC236}">
                <a16:creationId xmlns:a16="http://schemas.microsoft.com/office/drawing/2014/main" id="{FC19576D-FEB2-4FD3-9D3E-3810D432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That separation is the whole product: accessibility first, creativity second.</a:t>
            </a:r>
          </a:p>
        </p:txBody>
      </p:sp>
    </p:spTree>
    <p:extLst>
      <p:ext uri="{BB962C8B-B14F-4D97-AF65-F5344CB8AC3E}">
        <p14:creationId xmlns:p14="http://schemas.microsoft.com/office/powerpoint/2010/main" val="710169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13D36DB-02C0-4605-9BFB-1D0A5E62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product flow is simple on purpose</a:t>
            </a:r>
          </a:p>
        </p:txBody>
      </p:sp>
      <p:sp>
        <p:nvSpPr>
          <p:cNvPr id="2" name="lede">
            <a:extLst xmlns:a="http://schemas.openxmlformats.org/drawingml/2006/main">
              <a:ext uri="{FF2B5EF4-FFF2-40B4-BE49-F238E27FC236}">
                <a16:creationId xmlns:a16="http://schemas.microsoft.com/office/drawing/2014/main" id="{A9E285F0-3957-4E2D-9004-BCAC83C3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The app starts as a video workspace, then turns into a results page with exports, review controls, and the timed caption track.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0a5d2e0e14697"/>
          <a:srcRect xmlns:a="http://schemas.openxmlformats.org/drawingml/2006/main" l="7229" t="0" r="7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19300"/>
            <a:ext cx="56388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9bf524f940b6"/>
          <a:srcRect xmlns:a="http://schemas.openxmlformats.org/drawingml/2006/main" l="11564" t="0" r="115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2019300"/>
            <a:ext cx="50673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cap1">
            <a:extLst xmlns:a="http://schemas.openxmlformats.org/drawingml/2006/main">
              <a:ext uri="{FF2B5EF4-FFF2-40B4-BE49-F238E27FC236}">
                <a16:creationId xmlns:a16="http://schemas.microsoft.com/office/drawing/2014/main" id="{45B2EBA6-A7F4-4F9E-B90B-DB5304B6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Upload and generate</a:t>
            </a:r>
          </a:p>
        </p:txBody>
      </p:sp>
      <p:sp>
        <p:nvSpPr>
          <p:cNvPr id="6" name="cap2">
            <a:extLst xmlns:a="http://schemas.openxmlformats.org/drawingml/2006/main">
              <a:ext uri="{FF2B5EF4-FFF2-40B4-BE49-F238E27FC236}">
                <a16:creationId xmlns:a16="http://schemas.microsoft.com/office/drawing/2014/main" id="{2A5F5084-B5C6-45A4-80C0-136BF92E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864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Review captions, summaries, and export readiness</a:t>
            </a:r>
          </a:p>
        </p:txBody>
      </p:sp>
    </p:spTree>
    <p:extLst>
      <p:ext uri="{BB962C8B-B14F-4D97-AF65-F5344CB8AC3E}">
        <p14:creationId xmlns:p14="http://schemas.microsoft.com/office/powerpoint/2010/main" val="881130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44CBE3A-4117-4083-93E4-9BCDF658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Under the hood, the pipeline stays grounded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AA7E5-C3AC-4D6B-A0AE-988159B9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AE03A-3040-44D9-B586-07435D30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095500" cy="23622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4" name="n-1">
            <a:extLst xmlns:a="http://schemas.openxmlformats.org/drawingml/2006/main">
              <a:ext uri="{FF2B5EF4-FFF2-40B4-BE49-F238E27FC236}">
                <a16:creationId xmlns:a16="http://schemas.microsoft.com/office/drawing/2014/main" id="{FA4CF161-8677-49A8-941A-06726B51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4444"/>
                </a:solidFill>
              </a:defRPr>
            </a:pPr>
            <a:r>
              <a:rPr sz="2100" b="1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5" name="h-1">
            <a:extLst xmlns:a="http://schemas.openxmlformats.org/drawingml/2006/main">
              <a:ext uri="{FF2B5EF4-FFF2-40B4-BE49-F238E27FC236}">
                <a16:creationId xmlns:a16="http://schemas.microsoft.com/office/drawing/2014/main" id="{CE32F6EE-7DBA-4C37-94C6-3A611CB4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Upload / input</a:t>
            </a:r>
          </a:p>
        </p:txBody>
      </p:sp>
      <p:sp>
        <p:nvSpPr>
          <p:cNvPr id="6" name="b-1">
            <a:extLst xmlns:a="http://schemas.openxmlformats.org/drawingml/2006/main">
              <a:ext uri="{FF2B5EF4-FFF2-40B4-BE49-F238E27FC236}">
                <a16:creationId xmlns:a16="http://schemas.microsoft.com/office/drawing/2014/main" id="{10D22A7C-66D0-4F7C-B977-3932BA4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Reads a video task and fetches the clip.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4779F-3C2C-4EA9-8F04-0D4C880D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2095500" cy="23622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8" name="n-2">
            <a:extLst xmlns:a="http://schemas.openxmlformats.org/drawingml/2006/main">
              <a:ext uri="{FF2B5EF4-FFF2-40B4-BE49-F238E27FC236}">
                <a16:creationId xmlns:a16="http://schemas.microsoft.com/office/drawing/2014/main" id="{1CDED6A4-D7E1-467B-9252-90D3360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4444"/>
                </a:solidFill>
              </a:defRPr>
            </a:pPr>
            <a:r>
              <a:rPr sz="2100" b="1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9" name="h-2">
            <a:extLst xmlns:a="http://schemas.openxmlformats.org/drawingml/2006/main">
              <a:ext uri="{FF2B5EF4-FFF2-40B4-BE49-F238E27FC236}">
                <a16:creationId xmlns:a16="http://schemas.microsoft.com/office/drawing/2014/main" id="{42136954-5D6E-4103-80F6-698ADC6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Timed captions</a:t>
            </a:r>
          </a:p>
        </p:txBody>
      </p:sp>
      <p:sp>
        <p:nvSpPr>
          <p:cNvPr id="10" name="b-2">
            <a:extLst xmlns:a="http://schemas.openxmlformats.org/drawingml/2006/main">
              <a:ext uri="{FF2B5EF4-FFF2-40B4-BE49-F238E27FC236}">
                <a16:creationId xmlns:a16="http://schemas.microsoft.com/office/drawing/2014/main" id="{8544048E-9776-451A-8457-F0332A1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Extracts audio, normalizes timestamps, and builds subtitle segments.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AD5E1-E91B-460B-B485-2C06ACD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2095500" cy="23622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2" name="n-3">
            <a:extLst xmlns:a="http://schemas.openxmlformats.org/drawingml/2006/main">
              <a:ext uri="{FF2B5EF4-FFF2-40B4-BE49-F238E27FC236}">
                <a16:creationId xmlns:a16="http://schemas.microsoft.com/office/drawing/2014/main" id="{76D0CA38-B8D0-4BF6-A036-C047DF3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4444"/>
                </a:solidFill>
              </a:defRPr>
            </a:pPr>
            <a:r>
              <a:rPr sz="2100" b="1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13" name="h-3">
            <a:extLst xmlns:a="http://schemas.openxmlformats.org/drawingml/2006/main">
              <a:ext uri="{FF2B5EF4-FFF2-40B4-BE49-F238E27FC236}">
                <a16:creationId xmlns:a16="http://schemas.microsoft.com/office/drawing/2014/main" id="{8FD79E39-A860-4DA5-98F3-74C91B5B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Visual context</a:t>
            </a:r>
          </a:p>
        </p:txBody>
      </p:sp>
      <p:sp>
        <p:nvSpPr>
          <p:cNvPr id="14" name="b-3">
            <a:extLst xmlns:a="http://schemas.openxmlformats.org/drawingml/2006/main">
              <a:ext uri="{FF2B5EF4-FFF2-40B4-BE49-F238E27FC236}">
                <a16:creationId xmlns:a16="http://schemas.microsoft.com/office/drawing/2014/main" id="{8BD5E748-AF43-406D-8E56-990BC18C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Samples keyframes so the captioning model sees the scene.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34395-D83A-45F0-A6CE-B94DBB6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095500" cy="23622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6" name="n-4">
            <a:extLst xmlns:a="http://schemas.openxmlformats.org/drawingml/2006/main">
              <a:ext uri="{FF2B5EF4-FFF2-40B4-BE49-F238E27FC236}">
                <a16:creationId xmlns:a16="http://schemas.microsoft.com/office/drawing/2014/main" id="{2F322914-02AB-4031-8D59-39AFF711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4444"/>
                </a:solidFill>
              </a:defRPr>
            </a:pPr>
            <a:r>
              <a:rPr sz="2100" b="1">
                <a:solidFill>
                  <a:srgbClr val="EF4444"/>
                </a:solidFill>
              </a:rPr>
              <a:t>4</a:t>
            </a:r>
          </a:p>
        </p:txBody>
      </p:sp>
      <p:sp>
        <p:nvSpPr>
          <p:cNvPr id="17" name="h-4">
            <a:extLst xmlns:a="http://schemas.openxmlformats.org/drawingml/2006/main">
              <a:ext uri="{FF2B5EF4-FFF2-40B4-BE49-F238E27FC236}">
                <a16:creationId xmlns:a16="http://schemas.microsoft.com/office/drawing/2014/main" id="{1F6386F5-1EB4-4D4E-BD2E-6394525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Four styles</a:t>
            </a:r>
          </a:p>
        </p:txBody>
      </p:sp>
      <p:sp>
        <p:nvSpPr>
          <p:cNvPr id="18" name="b-4">
            <a:extLst xmlns:a="http://schemas.openxmlformats.org/drawingml/2006/main">
              <a:ext uri="{FF2B5EF4-FFF2-40B4-BE49-F238E27FC236}">
                <a16:creationId xmlns:a16="http://schemas.microsoft.com/office/drawing/2014/main" id="{7D24177D-EDE3-4C64-B853-A362221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Generates formal, sarcastic, humorous-tech, and humorous-non-tech.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0BE51BC5-3D8F-4F10-A56B-A0C4BA4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The web app shows the experience. The Track 2 container runs the same intelligence headlessly.</a:t>
            </a:r>
          </a:p>
        </p:txBody>
      </p:sp>
    </p:spTree>
    <p:extLst>
      <p:ext uri="{BB962C8B-B14F-4D97-AF65-F5344CB8AC3E}">
        <p14:creationId xmlns:p14="http://schemas.microsoft.com/office/powerpoint/2010/main" val="168041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19292C6-2549-45DD-8E5C-7A7F284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demo looks polished because the hardest pieces are already solved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da7165cc547ad"/>
          <a:srcRect xmlns:a="http://schemas.openxmlformats.org/drawingml/2006/main" l="0" t="17876" r="0" b="17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11049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3" name="left">
            <a:extLst xmlns:a="http://schemas.openxmlformats.org/drawingml/2006/main">
              <a:ext uri="{FF2B5EF4-FFF2-40B4-BE49-F238E27FC236}">
                <a16:creationId xmlns:a16="http://schemas.microsoft.com/office/drawing/2014/main" id="{3AE47AF8-3990-4FE2-89E2-37867E0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Each style is editable and saved back into the job output.</a:t>
            </a:r>
          </a:p>
        </p:txBody>
      </p:sp>
      <p:sp>
        <p:nvSpPr>
          <p:cNvPr id="4" name="right">
            <a:extLst xmlns:a="http://schemas.openxmlformats.org/drawingml/2006/main">
              <a:ext uri="{FF2B5EF4-FFF2-40B4-BE49-F238E27FC236}">
                <a16:creationId xmlns:a16="http://schemas.microsoft.com/office/drawing/2014/main" id="{3D10A540-34EF-4EC3-A6A4-3120E10E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912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That gives judges a clean review path and a stronger story.</a:t>
            </a:r>
          </a:p>
        </p:txBody>
      </p:sp>
    </p:spTree>
    <p:extLst>
      <p:ext uri="{BB962C8B-B14F-4D97-AF65-F5344CB8AC3E}">
        <p14:creationId xmlns:p14="http://schemas.microsoft.com/office/powerpoint/2010/main" val="2006923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CD07C-6982-490C-B519-E60847E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57912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C50C54-87AF-4A73-B71A-5C2848D3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What makes this submission competitive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0EB5B36-6182-448A-A91C-C413145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5334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Clear separation between captions and summaries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Track 2 Docker entrypoint that matches the evaluator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Fireworks-first routing with Groq fallback for reliability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Grounded outputs that stay tied to transcript and visual context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Real demo assets, export flow, and review checklist</a:t>
            </a:r>
          </a:p>
          <a:p xmlns:a="http://schemas.openxmlformats.org/drawingml/2006/main">
            <a:pPr>
              <a:defRPr sz="1650">
                <a:solidFill>
                  <a:srgbClr val="E5E7EB"/>
                </a:solidFill>
              </a:defRPr>
            </a:pPr>
            <a:r>
              <a:rPr sz="1650">
                <a:solidFill>
                  <a:srgbClr val="E5E7EB"/>
                </a:solidFill>
              </a:rPr>
              <a:t>• Public GitHub repo plus public linux/amd64 Docker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0F2BD-3E0C-42F4-8E7D-4831084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81100"/>
            <a:ext cx="3848100" cy="41148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5" name="ask">
            <a:extLst xmlns:a="http://schemas.openxmlformats.org/drawingml/2006/main">
              <a:ext uri="{FF2B5EF4-FFF2-40B4-BE49-F238E27FC236}">
                <a16:creationId xmlns:a16="http://schemas.microsoft.com/office/drawing/2014/main" id="{C9D185B7-D558-48CD-8612-E9E5FB35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621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</a:defRPr>
            </a:pPr>
            <a:r>
              <a:rPr sz="2400" b="1">
                <a:solidFill>
                  <a:srgbClr val="F8FAFC"/>
                </a:solidFill>
              </a:rPr>
              <a:t>Submission links</a:t>
            </a:r>
          </a:p>
        </p:txBody>
      </p:sp>
      <p:sp>
        <p:nvSpPr>
          <p:cNvPr id="6" name="repo">
            <a:extLst xmlns:a="http://schemas.openxmlformats.org/drawingml/2006/main">
              <a:ext uri="{FF2B5EF4-FFF2-40B4-BE49-F238E27FC236}">
                <a16:creationId xmlns:a16="http://schemas.microsoft.com/office/drawing/2014/main" id="{D87E7ECB-84CE-48B7-AFE9-5102B534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E7EB"/>
                </a:solidFill>
              </a:defRPr>
            </a:pPr>
            <a:r>
              <a:rPr sz="1350" b="1">
                <a:solidFill>
                  <a:srgbClr val="E5E7EB"/>
                </a:solidFill>
              </a:rPr>
              <a:t>GitHub</a:t>
            </a:r>
          </a:p>
          <a:p xmlns:a="http://schemas.openxmlformats.org/drawingml/2006/main">
            <a:pPr>
              <a:defRPr sz="1350" b="1">
                <a:solidFill>
                  <a:srgbClr val="E5E7EB"/>
                </a:solidFill>
              </a:defRPr>
            </a:pPr>
            <a:r>
              <a:rPr sz="1350" b="1">
                <a:solidFill>
                  <a:srgbClr val="E5E7EB"/>
                </a:solidFill>
              </a:rPr>
              <a:t>Adithya1912/ClipForger-AMD</a:t>
            </a:r>
          </a:p>
        </p:txBody>
      </p:sp>
      <p:sp>
        <p:nvSpPr>
          <p:cNvPr id="7" name="img">
            <a:extLst xmlns:a="http://schemas.openxmlformats.org/drawingml/2006/main">
              <a:ext uri="{FF2B5EF4-FFF2-40B4-BE49-F238E27FC236}">
                <a16:creationId xmlns:a16="http://schemas.microsoft.com/office/drawing/2014/main" id="{A270E51F-1A76-4577-89C0-74DDDBB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E7EB"/>
                </a:solidFill>
              </a:defRPr>
            </a:pPr>
            <a:r>
              <a:rPr sz="1350" b="1">
                <a:solidFill>
                  <a:srgbClr val="E5E7EB"/>
                </a:solidFill>
              </a:rPr>
              <a:t>Docker Hub</a:t>
            </a:r>
          </a:p>
          <a:p xmlns:a="http://schemas.openxmlformats.org/drawingml/2006/main">
            <a:pPr>
              <a:defRPr sz="1350" b="1">
                <a:solidFill>
                  <a:srgbClr val="E5E7EB"/>
                </a:solidFill>
              </a:defRPr>
            </a:pPr>
            <a:r>
              <a:rPr sz="1350" b="1">
                <a:solidFill>
                  <a:srgbClr val="E5E7EB"/>
                </a:solidFill>
              </a:rPr>
              <a:t>adithyaaaaaa/clipforger-amd:latest</a:t>
            </a:r>
          </a:p>
        </p:txBody>
      </p:sp>
      <p:sp>
        <p:nvSpPr>
          <p:cNvPr id="8" name="close">
            <a:extLst xmlns:a="http://schemas.openxmlformats.org/drawingml/2006/main">
              <a:ext uri="{FF2B5EF4-FFF2-40B4-BE49-F238E27FC236}">
                <a16:creationId xmlns:a16="http://schemas.microsoft.com/office/drawing/2014/main" id="{A15B553A-D00A-4077-8B04-D76B3A9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By the end, judges should see a reliable captioning agent that is actually ready to score on unseen clips.</a:t>
            </a:r>
          </a:p>
        </p:txBody>
      </p:sp>
    </p:spTree>
    <p:extLst>
      <p:ext uri="{BB962C8B-B14F-4D97-AF65-F5344CB8AC3E}">
        <p14:creationId xmlns:p14="http://schemas.microsoft.com/office/powerpoint/2010/main" val="713366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2026-07-06T17:38:13.9810000Z</dcterms:created>
  <dcterms:modified xsi:type="dcterms:W3CDTF">2026-07-06T17:38:13.9810000Z</dcterms:modified>
</coreProperties>
</file>